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Funnel Display"/>
      <p:regular r:id="rId13"/>
      <p:bold r:id="rId14"/>
    </p:embeddedFont>
    <p:embeddedFont>
      <p:font typeface="Albert Sans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FunnelDisplay-regular.fntdata"/><Relationship Id="rId12" Type="http://schemas.openxmlformats.org/officeDocument/2006/relationships/slide" Target="slides/slide8.xml"/><Relationship Id="rId15" Type="http://schemas.openxmlformats.org/officeDocument/2006/relationships/font" Target="fonts/AlbertSans-regular.fntdata"/><Relationship Id="rId14" Type="http://schemas.openxmlformats.org/officeDocument/2006/relationships/font" Target="fonts/FunnelDisplay-bold.fntdata"/><Relationship Id="rId17" Type="http://schemas.openxmlformats.org/officeDocument/2006/relationships/font" Target="fonts/AlbertSans-italic.fntdata"/><Relationship Id="rId16" Type="http://schemas.openxmlformats.org/officeDocument/2006/relationships/font" Target="fonts/AlbertSans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Albert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9bffbd1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9bffbd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36cf63bbf5f5872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36cf63bbf5f5872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bffbd1fc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bffbd1f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9bffbd1fc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9bffbd1fc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36cf63bbf5f5872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36cf63bbf5f5872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9bffbd1fc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9bffbd1fc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9bffbd1fc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9bffbd1fc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b="15598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70625" y="828100"/>
            <a:ext cx="8116200" cy="13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57100" y="3834200"/>
            <a:ext cx="8029800" cy="7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abstract-grainy-texture-background (2).jpg"/>
          <p:cNvPicPr preferRelativeResize="0"/>
          <p:nvPr/>
        </p:nvPicPr>
        <p:blipFill rotWithShape="1">
          <a:blip r:embed="rId2">
            <a:alphaModFix/>
          </a:blip>
          <a:srcRect b="1536" l="0" r="0" t="0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176150" y="1670492"/>
            <a:ext cx="4342200" cy="17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542675" y="2965200"/>
            <a:ext cx="3014700" cy="15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464025" y="424696"/>
            <a:ext cx="859800" cy="6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160700"/>
            <a:ext cx="7704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22" name="Google Shape;22;p4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b="0" l="49537" r="49537" t="0"/>
          <a:stretch/>
        </p:blipFill>
        <p:spPr>
          <a:xfrm rot="5400000">
            <a:off x="4536451" y="591802"/>
            <a:ext cx="121375" cy="873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4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5712000" y="4494125"/>
            <a:ext cx="2564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867750" y="4494125"/>
            <a:ext cx="2564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cxnSp>
        <p:nvCxnSpPr>
          <p:cNvPr id="30" name="Google Shape;30;p6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483675" y="529125"/>
            <a:ext cx="46443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7"/>
          <p:cNvSpPr/>
          <p:nvPr>
            <p:ph idx="2" type="pic"/>
          </p:nvPr>
        </p:nvSpPr>
        <p:spPr>
          <a:xfrm>
            <a:off x="228550" y="2382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3483675" y="1953400"/>
            <a:ext cx="4172400" cy="24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57100" y="1771800"/>
            <a:ext cx="5657400" cy="16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37" name="Google Shape;37;p8"/>
          <p:cNvCxnSpPr/>
          <p:nvPr/>
        </p:nvCxnSpPr>
        <p:spPr>
          <a:xfrm>
            <a:off x="218850" y="252463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8"/>
          <p:cNvCxnSpPr/>
          <p:nvPr/>
        </p:nvCxnSpPr>
        <p:spPr>
          <a:xfrm>
            <a:off x="218850" y="4891038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716350" y="656650"/>
            <a:ext cx="4872900" cy="11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486700" y="3628850"/>
            <a:ext cx="3776100" cy="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9"/>
          <p:cNvSpPr/>
          <p:nvPr>
            <p:ph idx="2" type="pic"/>
          </p:nvPr>
        </p:nvSpPr>
        <p:spPr>
          <a:xfrm>
            <a:off x="5657675" y="2524725"/>
            <a:ext cx="2454600" cy="16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4903975" y="5291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1284000" y="1349538"/>
            <a:ext cx="6576000" cy="13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1284000" y="28075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49" name="Google Shape;49;p11"/>
          <p:cNvCxnSpPr/>
          <p:nvPr/>
        </p:nvCxnSpPr>
        <p:spPr>
          <a:xfrm>
            <a:off x="218850" y="272663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" name="Google Shape;50;p11"/>
          <p:cNvCxnSpPr/>
          <p:nvPr/>
        </p:nvCxnSpPr>
        <p:spPr>
          <a:xfrm>
            <a:off x="218850" y="4870838"/>
            <a:ext cx="870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 title="silhouette-person-city (2).jpg"/>
          <p:cNvPicPr preferRelativeResize="0"/>
          <p:nvPr/>
        </p:nvPicPr>
        <p:blipFill rotWithShape="1">
          <a:blip r:embed="rId2">
            <a:alphaModFix/>
          </a:blip>
          <a:srcRect b="15419" l="0" r="0" t="0"/>
          <a:stretch/>
        </p:blipFill>
        <p:spPr>
          <a:xfrm>
            <a:off x="-2" y="0"/>
            <a:ext cx="9144003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571475" y="521225"/>
            <a:ext cx="8001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840200" y="1274600"/>
            <a:ext cx="5583900" cy="3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2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83675" y="238188"/>
            <a:ext cx="4644300" cy="11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228550" y="2334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483675" y="1715200"/>
            <a:ext cx="46443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508600" y="3163350"/>
            <a:ext cx="4383600" cy="15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hasCustomPrompt="1" idx="2" type="title"/>
          </p:nvPr>
        </p:nvSpPr>
        <p:spPr>
          <a:xfrm>
            <a:off x="437825" y="460350"/>
            <a:ext cx="1332600" cy="67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5"/>
          <p:cNvSpPr/>
          <p:nvPr>
            <p:ph idx="3" type="pic"/>
          </p:nvPr>
        </p:nvSpPr>
        <p:spPr>
          <a:xfrm>
            <a:off x="6214025" y="151774"/>
            <a:ext cx="2760600" cy="48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228925" y="2268750"/>
            <a:ext cx="33351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34212" y="100"/>
            <a:ext cx="32040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/>
          <p:nvPr>
            <p:ph idx="3" type="pic"/>
          </p:nvPr>
        </p:nvSpPr>
        <p:spPr>
          <a:xfrm>
            <a:off x="0" y="100"/>
            <a:ext cx="16839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/>
          <p:nvPr>
            <p:ph idx="4" type="pic"/>
          </p:nvPr>
        </p:nvSpPr>
        <p:spPr>
          <a:xfrm>
            <a:off x="0" y="2664100"/>
            <a:ext cx="3288000" cy="247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6"/>
          <p:cNvSpPr/>
          <p:nvPr>
            <p:ph idx="5" type="pic"/>
          </p:nvPr>
        </p:nvSpPr>
        <p:spPr>
          <a:xfrm>
            <a:off x="3336275" y="2664050"/>
            <a:ext cx="1607100" cy="2479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1" name="Google Shape;71;p16"/>
          <p:cNvCxnSpPr/>
          <p:nvPr/>
        </p:nvCxnSpPr>
        <p:spPr>
          <a:xfrm>
            <a:off x="8915400" y="357900"/>
            <a:ext cx="0" cy="442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>
            <p:ph idx="2" type="pic"/>
          </p:nvPr>
        </p:nvSpPr>
        <p:spPr>
          <a:xfrm>
            <a:off x="-6750" y="-34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-7865" y="40558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 title="monochromatic-urban-minimal-landscape (4).jpg"/>
          <p:cNvPicPr preferRelativeResize="0"/>
          <p:nvPr/>
        </p:nvPicPr>
        <p:blipFill rotWithShape="1">
          <a:blip r:embed="rId2">
            <a:alphaModFix/>
          </a:blip>
          <a:srcRect b="7807" l="0" r="0" t="7798"/>
          <a:stretch/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544050" y="457800"/>
            <a:ext cx="8055900" cy="4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444700" y="238200"/>
            <a:ext cx="54999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566419" y="1296900"/>
            <a:ext cx="53784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/>
        </p:nvSpPr>
        <p:spPr>
          <a:xfrm>
            <a:off x="5458100" y="3507650"/>
            <a:ext cx="31125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ctrTitle"/>
          </p:nvPr>
        </p:nvSpPr>
        <p:spPr>
          <a:xfrm>
            <a:off x="447725" y="1148625"/>
            <a:ext cx="5268000" cy="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Personal Expense Tracker</a:t>
            </a:r>
            <a:endParaRPr sz="3200"/>
          </a:p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447725" y="1857700"/>
            <a:ext cx="5268000" cy="4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Refactoring, Data Persistence, and Automated Testing</a:t>
            </a:r>
            <a:endParaRPr sz="1500"/>
          </a:p>
        </p:txBody>
      </p:sp>
      <p:cxnSp>
        <p:nvCxnSpPr>
          <p:cNvPr id="89" name="Google Shape;89;p20"/>
          <p:cNvCxnSpPr/>
          <p:nvPr/>
        </p:nvCxnSpPr>
        <p:spPr>
          <a:xfrm>
            <a:off x="557100" y="876075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20"/>
          <p:cNvSpPr txBox="1"/>
          <p:nvPr/>
        </p:nvSpPr>
        <p:spPr>
          <a:xfrm>
            <a:off x="5029025" y="378750"/>
            <a:ext cx="3652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PYTHON PROGRAMMING • PROJECT 2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91" name="Google Shape;91;p20"/>
          <p:cNvCxnSpPr/>
          <p:nvPr/>
        </p:nvCxnSpPr>
        <p:spPr>
          <a:xfrm>
            <a:off x="557100" y="2571750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20"/>
          <p:cNvSpPr txBox="1"/>
          <p:nvPr>
            <p:ph idx="1" type="subTitle"/>
          </p:nvPr>
        </p:nvSpPr>
        <p:spPr>
          <a:xfrm>
            <a:off x="447725" y="2735075"/>
            <a:ext cx="5268000" cy="16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Presented by: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Abdullah Rashid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Columbus state community college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Programming (26AU W01L)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Instructor: Gabriel Walters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602875" y="1144700"/>
            <a:ext cx="79650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Objective</a:t>
            </a:r>
            <a:r>
              <a:rPr lang="en" sz="1500"/>
              <a:t>: Improve the original Personal Expense Tracker by making the application more modular, maintainable, and reliable.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Key features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Add, view, search, and remove expenses.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Track spending by category and calculate total expenses.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Set and monitor a monthly budget.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Support one-time and recurring expense records.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Save and reload data using JSON.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Project 2 focus: </a:t>
            </a:r>
            <a:r>
              <a:rPr lang="en" sz="1500"/>
              <a:t>Apply object-oriented programming, modularization, exception handling, file I/O, and automated testing.</a:t>
            </a:r>
            <a:endParaRPr sz="1500"/>
          </a:p>
        </p:txBody>
      </p:sp>
      <p:sp>
        <p:nvSpPr>
          <p:cNvPr id="98" name="Google Shape;98;p21"/>
          <p:cNvSpPr txBox="1"/>
          <p:nvPr>
            <p:ph type="title"/>
          </p:nvPr>
        </p:nvSpPr>
        <p:spPr>
          <a:xfrm>
            <a:off x="557100" y="213675"/>
            <a:ext cx="4140300" cy="5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Project Overview</a:t>
            </a:r>
            <a:endParaRPr sz="2500"/>
          </a:p>
        </p:txBody>
      </p:sp>
      <p:cxnSp>
        <p:nvCxnSpPr>
          <p:cNvPr id="99" name="Google Shape;99;p21"/>
          <p:cNvCxnSpPr/>
          <p:nvPr/>
        </p:nvCxnSpPr>
        <p:spPr>
          <a:xfrm>
            <a:off x="557100" y="864950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 flipH="1">
            <a:off x="3276088" y="1493925"/>
            <a:ext cx="21753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50" lIns="77550" spcFirstLastPara="1" rIns="77550" wrap="square" tIns="77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main.py</a:t>
            </a:r>
            <a:endParaRPr sz="1018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/>
              <a:t>User interface and menu workflow</a:t>
            </a:r>
            <a:endParaRPr sz="1018"/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t/>
            </a:r>
            <a:endParaRPr b="1" sz="1782">
              <a:solidFill>
                <a:srgbClr val="19191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 flipH="1">
            <a:off x="1809146" y="2477560"/>
            <a:ext cx="175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50" lIns="77550" spcFirstLastPara="1" rIns="77550" wrap="square" tIns="77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models.py</a:t>
            </a:r>
            <a:endParaRPr sz="1018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/>
              <a:t>Expense classes and validation</a:t>
            </a:r>
            <a:endParaRPr sz="1018"/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t/>
            </a:r>
            <a:endParaRPr b="1" sz="1782">
              <a:solidFill>
                <a:srgbClr val="19191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 flipH="1">
            <a:off x="5190698" y="2341604"/>
            <a:ext cx="175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50" lIns="77550" spcFirstLastPara="1" rIns="77550" wrap="square" tIns="77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expense_manager.py</a:t>
            </a:r>
            <a:endParaRPr sz="933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933"/>
              <a:t>Calculations and expense operations</a:t>
            </a:r>
            <a:endParaRPr sz="933"/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t/>
            </a:r>
            <a:endParaRPr b="1" sz="1697">
              <a:solidFill>
                <a:srgbClr val="19191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 flipH="1">
            <a:off x="3276116" y="3254426"/>
            <a:ext cx="1753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7550" lIns="77550" spcFirstLastPara="1" rIns="77550" wrap="square" tIns="775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storage.py</a:t>
            </a:r>
            <a:endParaRPr sz="1018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rPr lang="en" sz="1018"/>
              <a:t>JSON persistence and storage error handling</a:t>
            </a:r>
            <a:endParaRPr sz="1018"/>
          </a:p>
          <a:p>
            <a:pPr indent="0" lvl="0" marL="0" rtl="0" algn="l">
              <a:lnSpc>
                <a:spcPct val="115000"/>
              </a:lnSpc>
              <a:spcBef>
                <a:spcPts val="1018"/>
              </a:spcBef>
              <a:spcAft>
                <a:spcPts val="0"/>
              </a:spcAft>
              <a:buNone/>
            </a:pPr>
            <a:r>
              <a:t/>
            </a:r>
            <a:endParaRPr b="1" sz="1782">
              <a:solidFill>
                <a:srgbClr val="191919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557100" y="4264125"/>
            <a:ext cx="790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M Sans"/>
                <a:ea typeface="DM Sans"/>
                <a:cs typeface="DM Sans"/>
                <a:sym typeface="DM Sans"/>
              </a:rPr>
              <a:t>Each module has a specific responsibility, making the application easier to maintain, test, and extend.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557100" y="96300"/>
            <a:ext cx="4140300" cy="5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Application Architecture</a:t>
            </a:r>
            <a:endParaRPr sz="2000"/>
          </a:p>
        </p:txBody>
      </p:sp>
      <p:cxnSp>
        <p:nvCxnSpPr>
          <p:cNvPr id="110" name="Google Shape;110;p22"/>
          <p:cNvCxnSpPr/>
          <p:nvPr/>
        </p:nvCxnSpPr>
        <p:spPr>
          <a:xfrm>
            <a:off x="557100" y="747575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22"/>
          <p:cNvSpPr txBox="1"/>
          <p:nvPr/>
        </p:nvSpPr>
        <p:spPr>
          <a:xfrm>
            <a:off x="557100" y="858375"/>
            <a:ext cx="145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Modular design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subTitle"/>
          </p:nvPr>
        </p:nvSpPr>
        <p:spPr>
          <a:xfrm>
            <a:off x="557100" y="969174"/>
            <a:ext cx="7944300" cy="3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1. Object-oriented programming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Expense represents a standard expense.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Recurring Expense inherits from Expense.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Validation helps prevent invalid expense records.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2. JSON data persistence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Stores expense records and budget information.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Reloads saved data when the application restarts.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Handles missing files and invalid saved data.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3. Automated testing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Uses pytest to test models, expense-management functions, and storage behavior.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Tests normal operations, invalid inputs, and error conditions.</a:t>
            </a:r>
            <a:endParaRPr sz="1500"/>
          </a:p>
        </p:txBody>
      </p:sp>
      <p:cxnSp>
        <p:nvCxnSpPr>
          <p:cNvPr id="117" name="Google Shape;117;p23"/>
          <p:cNvCxnSpPr/>
          <p:nvPr/>
        </p:nvCxnSpPr>
        <p:spPr>
          <a:xfrm>
            <a:off x="3483675" y="4983575"/>
            <a:ext cx="244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23"/>
          <p:cNvSpPr txBox="1"/>
          <p:nvPr>
            <p:ph type="title"/>
          </p:nvPr>
        </p:nvSpPr>
        <p:spPr>
          <a:xfrm>
            <a:off x="557100" y="127675"/>
            <a:ext cx="4140300" cy="5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Technical Implementation</a:t>
            </a:r>
            <a:endParaRPr sz="2200"/>
          </a:p>
        </p:txBody>
      </p:sp>
      <p:cxnSp>
        <p:nvCxnSpPr>
          <p:cNvPr id="119" name="Google Shape;119;p23"/>
          <p:cNvCxnSpPr/>
          <p:nvPr/>
        </p:nvCxnSpPr>
        <p:spPr>
          <a:xfrm>
            <a:off x="557100" y="778950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2702647" y="1480425"/>
            <a:ext cx="5905200" cy="534000"/>
          </a:xfrm>
          <a:prstGeom prst="rect">
            <a:avLst/>
          </a:prstGeom>
        </p:spPr>
        <p:txBody>
          <a:bodyPr anchorCtr="0" anchor="b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97"/>
              <a:t>Automated verification</a:t>
            </a:r>
            <a:endParaRPr b="1" sz="13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7"/>
              <a:t>The complete test suite passed all 65 tests in the latest reported run.</a:t>
            </a:r>
            <a:endParaRPr sz="1397"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485850" y="334775"/>
            <a:ext cx="6019500" cy="5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Project Results and Achievements</a:t>
            </a:r>
            <a:endParaRPr sz="2200"/>
          </a:p>
        </p:txBody>
      </p:sp>
      <p:cxnSp>
        <p:nvCxnSpPr>
          <p:cNvPr id="126" name="Google Shape;126;p24"/>
          <p:cNvCxnSpPr/>
          <p:nvPr/>
        </p:nvCxnSpPr>
        <p:spPr>
          <a:xfrm>
            <a:off x="485850" y="986050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4"/>
          <p:cNvSpPr txBox="1"/>
          <p:nvPr/>
        </p:nvSpPr>
        <p:spPr>
          <a:xfrm>
            <a:off x="1358475" y="1352981"/>
            <a:ext cx="7071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4F55AB"/>
                </a:solidFill>
                <a:latin typeface="Albert Sans"/>
                <a:ea typeface="Albert Sans"/>
                <a:cs typeface="Albert Sans"/>
                <a:sym typeface="Albert Sans"/>
              </a:rPr>
              <a:t>65</a:t>
            </a:r>
            <a:endParaRPr b="1" sz="2500">
              <a:solidFill>
                <a:srgbClr val="4F55A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1214325" y="2443150"/>
            <a:ext cx="9954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4F55AB"/>
                </a:solidFill>
                <a:latin typeface="Albert Sans"/>
                <a:ea typeface="Albert Sans"/>
                <a:cs typeface="Albert Sans"/>
                <a:sym typeface="Albert Sans"/>
              </a:rPr>
              <a:t>$500</a:t>
            </a:r>
            <a:endParaRPr b="1" sz="2500">
              <a:solidFill>
                <a:srgbClr val="4F55A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29" name="Google Shape;129;p24"/>
          <p:cNvCxnSpPr/>
          <p:nvPr/>
        </p:nvCxnSpPr>
        <p:spPr>
          <a:xfrm flipH="1" rot="10800000">
            <a:off x="1461529" y="3734131"/>
            <a:ext cx="501000" cy="434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19191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0" name="Google Shape;130;p24"/>
          <p:cNvSpPr txBox="1"/>
          <p:nvPr/>
        </p:nvSpPr>
        <p:spPr>
          <a:xfrm>
            <a:off x="1214325" y="1838613"/>
            <a:ext cx="99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Tests passed</a:t>
            </a:r>
            <a:endParaRPr sz="1000"/>
          </a:p>
        </p:txBody>
      </p:sp>
      <p:sp>
        <p:nvSpPr>
          <p:cNvPr id="131" name="Google Shape;131;p24"/>
          <p:cNvSpPr txBox="1"/>
          <p:nvPr/>
        </p:nvSpPr>
        <p:spPr>
          <a:xfrm>
            <a:off x="1154325" y="3014600"/>
            <a:ext cx="11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Budget retained</a:t>
            </a:r>
            <a:endParaRPr sz="1000"/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2702647" y="2615431"/>
            <a:ext cx="5905200" cy="534000"/>
          </a:xfrm>
          <a:prstGeom prst="rect">
            <a:avLst/>
          </a:prstGeom>
        </p:spPr>
        <p:txBody>
          <a:bodyPr anchorCtr="0" anchor="b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97"/>
              <a:t>Successful persistence</a:t>
            </a:r>
            <a:endParaRPr b="1" sz="13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7"/>
              <a:t>After restarting, the application reloaded four saved expenses and retained the monthly budget.</a:t>
            </a:r>
            <a:endParaRPr sz="1397"/>
          </a:p>
        </p:txBody>
      </p:sp>
      <p:sp>
        <p:nvSpPr>
          <p:cNvPr id="133" name="Google Shape;133;p24"/>
          <p:cNvSpPr txBox="1"/>
          <p:nvPr>
            <p:ph idx="1" type="subTitle"/>
          </p:nvPr>
        </p:nvSpPr>
        <p:spPr>
          <a:xfrm>
            <a:off x="2702647" y="3750425"/>
            <a:ext cx="6019500" cy="534000"/>
          </a:xfrm>
          <a:prstGeom prst="rect">
            <a:avLst/>
          </a:prstGeom>
        </p:spPr>
        <p:txBody>
          <a:bodyPr anchorCtr="0" anchor="b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97"/>
              <a:t>Incremental development</a:t>
            </a:r>
            <a:endParaRPr b="1" sz="13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7"/>
              <a:t>Meaningful Git commits document the refactoring, JSON persistence, tests, dependencies, and documentation.</a:t>
            </a:r>
            <a:endParaRPr sz="139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557100" y="1256775"/>
            <a:ext cx="7944300" cy="31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Challenges addressed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Validating expense amounts, descriptions, categories, and recurring frequencies.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Handling malformed JSON and invalid stored records.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Separating application responsibilities into independent modules.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Building meaningful tests for normal and exceptional conditions.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Future improvements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Expand end-to-end tests for unusual user inputs and recovery paths.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Continue improving documentation and release verification.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Explore additional reporting features if the project scope permits.</a:t>
            </a:r>
            <a:endParaRPr sz="15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3483675" y="4983575"/>
            <a:ext cx="244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5"/>
          <p:cNvSpPr txBox="1"/>
          <p:nvPr>
            <p:ph type="title"/>
          </p:nvPr>
        </p:nvSpPr>
        <p:spPr>
          <a:xfrm>
            <a:off x="557100" y="348975"/>
            <a:ext cx="5601300" cy="58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Challenges and Improvements </a:t>
            </a:r>
            <a:endParaRPr sz="2200"/>
          </a:p>
        </p:txBody>
      </p:sp>
      <p:cxnSp>
        <p:nvCxnSpPr>
          <p:cNvPr id="141" name="Google Shape;141;p25"/>
          <p:cNvCxnSpPr/>
          <p:nvPr/>
        </p:nvCxnSpPr>
        <p:spPr>
          <a:xfrm>
            <a:off x="557100" y="1000250"/>
            <a:ext cx="802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571475" y="521225"/>
            <a:ext cx="8001000" cy="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Lessons Learned and Project Management</a:t>
            </a:r>
            <a:endParaRPr sz="2000"/>
          </a:p>
        </p:txBody>
      </p:sp>
      <p:sp>
        <p:nvSpPr>
          <p:cNvPr id="147" name="Google Shape;147;p26"/>
          <p:cNvSpPr txBox="1"/>
          <p:nvPr>
            <p:ph idx="1" type="subTitle"/>
          </p:nvPr>
        </p:nvSpPr>
        <p:spPr>
          <a:xfrm>
            <a:off x="668450" y="1274600"/>
            <a:ext cx="7755600" cy="33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Risk and change management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Make small, meaningful changes and document them through Git commits.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Run the complete test suite after code changes.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Verify persistence by restarting the application.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- Keep local expense data and generated files out of version control.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Key lessons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Modular code is easier to understand and test.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Automated tests and manual verification serve complementary purposes.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Documentation, version control, and presentation are part of delivering a complete software project.</a:t>
            </a:r>
            <a:endParaRPr sz="1500"/>
          </a:p>
        </p:txBody>
      </p:sp>
      <p:cxnSp>
        <p:nvCxnSpPr>
          <p:cNvPr id="148" name="Google Shape;148;p26"/>
          <p:cNvCxnSpPr/>
          <p:nvPr/>
        </p:nvCxnSpPr>
        <p:spPr>
          <a:xfrm>
            <a:off x="668438" y="1094375"/>
            <a:ext cx="790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508600" y="3163350"/>
            <a:ext cx="6977700" cy="6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Thank you for your time and consideration.</a:t>
            </a:r>
            <a:endParaRPr sz="2500"/>
          </a:p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37825" y="460350"/>
            <a:ext cx="89160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cxnSp>
        <p:nvCxnSpPr>
          <p:cNvPr id="155" name="Google Shape;155;p27"/>
          <p:cNvCxnSpPr/>
          <p:nvPr/>
        </p:nvCxnSpPr>
        <p:spPr>
          <a:xfrm>
            <a:off x="684225" y="995150"/>
            <a:ext cx="0" cy="231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7"/>
          <p:cNvSpPr txBox="1"/>
          <p:nvPr>
            <p:ph type="title"/>
          </p:nvPr>
        </p:nvSpPr>
        <p:spPr>
          <a:xfrm>
            <a:off x="1303675" y="1177400"/>
            <a:ext cx="40167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Personal Expense Tracker — Project 2</a:t>
            </a:r>
            <a:endParaRPr sz="1500"/>
          </a:p>
        </p:txBody>
      </p:sp>
      <p:sp>
        <p:nvSpPr>
          <p:cNvPr id="157" name="Google Shape;157;p27"/>
          <p:cNvSpPr txBox="1"/>
          <p:nvPr>
            <p:ph type="title"/>
          </p:nvPr>
        </p:nvSpPr>
        <p:spPr>
          <a:xfrm>
            <a:off x="2319925" y="3878675"/>
            <a:ext cx="4647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GitHub: github.com/arashid7868/Personal_Expense_Tracker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for Business by Slidesgo">
  <a:themeElements>
    <a:clrScheme name="Simple Light">
      <a:dk1>
        <a:srgbClr val="191919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